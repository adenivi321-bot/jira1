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Разработка</a:t>
            </a:r>
            <a:r>
              <a:rPr/>
              <a:t> </a:t>
            </a:r>
            <a:r>
              <a:rPr/>
              <a:t>прототипа</a:t>
            </a:r>
            <a:r>
              <a:rPr/>
              <a:t> </a:t>
            </a:r>
            <a:r>
              <a:rPr/>
              <a:t>системы</a:t>
            </a:r>
            <a:r>
              <a:rPr/>
              <a:t> </a:t>
            </a:r>
            <a:r>
              <a:rPr/>
              <a:t>управления</a:t>
            </a:r>
            <a:r>
              <a:rPr/>
              <a:t> </a:t>
            </a:r>
            <a:r>
              <a:rPr/>
              <a:t>задачами</a:t>
            </a:r>
            <a:r>
              <a:rPr/>
              <a:t> </a:t>
            </a:r>
            <a:r>
              <a:rPr/>
              <a:t>TaskHub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Курсовая</a:t>
            </a:r>
            <a:r>
              <a:rPr/>
              <a:t> </a:t>
            </a:r>
            <a:r>
              <a:rPr/>
              <a:t>работа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защита</a:t>
            </a:r>
            <a:br/>
            <a:br/>
            <a:r>
              <a:rPr/>
              <a:t>Студент:</a:t>
            </a:r>
            <a:r>
              <a:rPr/>
              <a:t> </a:t>
            </a:r>
            <a:r>
              <a:rPr/>
              <a:t>______________________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Группа:</a:t>
            </a:r>
            <a:r>
              <a:rPr/>
              <a:t> </a:t>
            </a:r>
            <a:r>
              <a:rPr/>
              <a:t>________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Руководитель:</a:t>
            </a:r>
            <a:r>
              <a:rPr/>
              <a:t> </a:t>
            </a:r>
            <a:r>
              <a:rPr/>
              <a:t>______________________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Тема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цель</a:t>
            </a:r>
            <a:r>
              <a:rPr/>
              <a:t> </a:t>
            </a:r>
            <a:r>
              <a:rPr/>
              <a:t>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Тема.</a:t>
            </a:r>
            <a:r>
              <a:rPr/>
              <a:t> Разработка прототипа системы управления задачами (наподобие Jira) с полным комплектом UML-диаграмм.</a:t>
            </a:r>
          </a:p>
          <a:p>
            <a:pPr lvl="0" marL="0" indent="0">
              <a:buNone/>
            </a:pPr>
            <a:r>
              <a:rPr b="1"/>
              <a:t>Актуальность.</a:t>
            </a:r>
            <a:r>
              <a:rPr/>
              <a:t> Уход зарубежных SaaS-сервисов (Atlassian Jira, Trello) и потребность в собственных импортонезависимых решениях для команд.</a:t>
            </a:r>
          </a:p>
          <a:p>
            <a:pPr lvl="0" marL="0" indent="0">
              <a:buNone/>
            </a:pPr>
            <a:r>
              <a:rPr b="1"/>
              <a:t>Цель.</a:t>
            </a:r>
            <a:r>
              <a:rPr/>
              <a:t> Спроектировать и реализовать прототип многоарендной (multi-tenant) системы управления задачами TaskHub с поддержкой Kanban / Scrum, ролевой моделью доступа и обновлениями в реальном времени.</a:t>
            </a:r>
          </a:p>
          <a:p>
            <a:pPr lvl="0" marL="0" indent="0">
              <a:buNone/>
            </a:pPr>
            <a:r>
              <a:rPr b="1"/>
              <a:t>Задачи</a:t>
            </a:r>
          </a:p>
          <a:p>
            <a:pPr lvl="1"/>
            <a:r>
              <a:rPr/>
              <a:t>проанализировать предметную область и существующие аналоги;</a:t>
            </a:r>
          </a:p>
          <a:p>
            <a:pPr lvl="1"/>
            <a:r>
              <a:rPr/>
              <a:t>сформулировать функциональные и нефункциональные требования;</a:t>
            </a:r>
          </a:p>
          <a:p>
            <a:pPr lvl="1"/>
            <a:r>
              <a:rPr/>
              <a:t>спроектировать архитектуру, доменную модель и схему БД;</a:t>
            </a:r>
          </a:p>
          <a:p>
            <a:pPr lvl="1"/>
            <a:r>
              <a:rPr/>
              <a:t>разработать прототип back-end и front-end;</a:t>
            </a:r>
          </a:p>
          <a:p>
            <a:pPr lvl="1"/>
            <a:r>
              <a:rPr/>
              <a:t>построить полный комплект UML-диаграмм.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ГЛАВА</a:t>
            </a:r>
            <a:r>
              <a:rPr/>
              <a:t> </a:t>
            </a:r>
            <a:r>
              <a:rPr/>
              <a:t>1.</a:t>
            </a:r>
            <a:r>
              <a:rPr/>
              <a:t> </a:t>
            </a:r>
            <a:r>
              <a:rPr/>
              <a:t>АНАЛИЗ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ПРОЕКТИРОВАНИЕ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Предметная область, требования, архитектура, доменная модель, схема БД, паттерны.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1.1</a:t>
            </a:r>
            <a:r>
              <a:rPr/>
              <a:t> </a:t>
            </a:r>
            <a:r>
              <a:rPr/>
              <a:t>Класс</a:t>
            </a:r>
            <a:r>
              <a:rPr/>
              <a:t> </a:t>
            </a:r>
            <a:r>
              <a:rPr/>
              <a:t>ПО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системы</a:t>
            </a:r>
            <a:r>
              <a:rPr/>
              <a:t> </a:t>
            </a:r>
            <a:r>
              <a:rPr/>
              <a:t>управления</a:t>
            </a:r>
            <a:r>
              <a:rPr/>
              <a:t> </a:t>
            </a:r>
            <a:r>
              <a:rPr/>
              <a:t>задачами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Что такое СУЗ (issue tracker).</a:t>
            </a:r>
            <a:r>
              <a:rPr/>
              <a:t> Web-приложение для планирования, декомпозиции и контроля выполнения работ командой.</a:t>
            </a:r>
          </a:p>
          <a:p>
            <a:pPr lvl="0" marL="0" indent="0">
              <a:buNone/>
            </a:pPr>
            <a:r>
              <a:rPr b="1"/>
              <a:t>Базовые сущности</a:t>
            </a:r>
          </a:p>
          <a:p>
            <a:pPr lvl="1"/>
            <a:r>
              <a:rPr/>
              <a:t>задача (issue) с типом, приоритетом, исполнителем, сроком;</a:t>
            </a:r>
          </a:p>
          <a:p>
            <a:pPr lvl="1"/>
            <a:r>
              <a:rPr/>
              <a:t>проект и доска (Kanban / Scrum);</a:t>
            </a:r>
          </a:p>
          <a:p>
            <a:pPr lvl="1"/>
            <a:r>
              <a:rPr/>
              <a:t>спринт, бэклог, изменения статуса;</a:t>
            </a:r>
          </a:p>
          <a:p>
            <a:pPr lvl="1"/>
            <a:r>
              <a:rPr/>
              <a:t>комментарии, вложения, история изменений (changelog).</a:t>
            </a:r>
          </a:p>
          <a:p>
            <a:pPr lvl="0" marL="0" indent="0">
              <a:buNone/>
            </a:pPr>
            <a:r>
              <a:rPr b="1"/>
              <a:t>Ключевые сценарии.</a:t>
            </a:r>
            <a:r>
              <a:rPr/>
              <a:t> Регистрация организации → создание проекта → формирование бэклога → планирование спринта → перетаскивание карточек на доске → закрытие задач.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1.2</a:t>
            </a:r>
            <a:r>
              <a:rPr/>
              <a:t> </a:t>
            </a:r>
            <a:r>
              <a:rPr/>
              <a:t>Требования</a:t>
            </a:r>
            <a:r>
              <a:rPr/>
              <a:t> </a:t>
            </a:r>
            <a:r>
              <a:rPr/>
              <a:t>к</a:t>
            </a:r>
            <a:r>
              <a:rPr/>
              <a:t> </a:t>
            </a:r>
            <a:r>
              <a:rPr/>
              <a:t>системе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Функциональные (24 шт., укрупнённо)</a:t>
            </a:r>
          </a:p>
          <a:p>
            <a:pPr lvl="1"/>
            <a:r>
              <a:rPr/>
              <a:t>регистрация организации и приглашение участников по e-mail;</a:t>
            </a:r>
          </a:p>
          <a:p>
            <a:pPr lvl="1"/>
            <a:r>
              <a:rPr/>
              <a:t>ролевая модель: ADMIN, PROJECT_MANAGER, DEVELOPER, VIEWER;</a:t>
            </a:r>
          </a:p>
          <a:p>
            <a:pPr lvl="1"/>
            <a:r>
              <a:rPr/>
              <a:t>CRUD проектов / задач / спринтов / комментариев / вложений;</a:t>
            </a:r>
          </a:p>
          <a:p>
            <a:pPr lvl="1"/>
            <a:r>
              <a:rPr/>
              <a:t>Kanban-доска с drag-and-drop, Scrum-доска, бэклог;</a:t>
            </a:r>
          </a:p>
          <a:p>
            <a:pPr lvl="1"/>
            <a:r>
              <a:rPr/>
              <a:t>глобальный полнотекстовый поиск по задачам;</a:t>
            </a:r>
          </a:p>
          <a:p>
            <a:pPr lvl="1"/>
            <a:r>
              <a:rPr/>
              <a:t>уведомления (in-app + e-mail), история изменений.</a:t>
            </a:r>
          </a:p>
          <a:p>
            <a:pPr lvl="0" marL="0" indent="0">
              <a:buNone/>
            </a:pPr>
            <a:r>
              <a:rPr b="1"/>
              <a:t>Нефункциональные</a:t>
            </a:r>
          </a:p>
          <a:p>
            <a:pPr lvl="1"/>
            <a:r>
              <a:rPr/>
              <a:t>multi-tenant изоляция данных на уровне СУБД (RLS);</a:t>
            </a:r>
          </a:p>
          <a:p>
            <a:pPr lvl="1"/>
            <a:r>
              <a:rPr/>
              <a:t>отклик API ≤ 300 мс на 95-м перцентиле;</a:t>
            </a:r>
          </a:p>
          <a:p>
            <a:pPr lvl="1"/>
            <a:r>
              <a:rPr/>
              <a:t>горизонтальное масштабирование stateless-инстансов;</a:t>
            </a:r>
          </a:p>
          <a:p>
            <a:pPr lvl="1"/>
            <a:r>
              <a:rPr/>
              <a:t>безопасность: JWT + refresh-rotation, bcrypt, RBAC;</a:t>
            </a:r>
          </a:p>
          <a:p>
            <a:pPr lvl="1"/>
            <a:r>
              <a:rPr/>
              <a:t>развёртывание одной командой </a:t>
            </a:r>
            <a:r>
              <a:rPr>
                <a:latin typeface="Courier"/>
              </a:rPr>
              <a:t>docker compose up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1.3</a:t>
            </a:r>
            <a:r>
              <a:rPr/>
              <a:t> </a:t>
            </a:r>
            <a:r>
              <a:rPr/>
              <a:t>Архитектура:</a:t>
            </a:r>
            <a:r>
              <a:rPr/>
              <a:t> </a:t>
            </a:r>
            <a:r>
              <a:rPr/>
              <a:t>модульный</a:t>
            </a:r>
            <a:r>
              <a:rPr/>
              <a:t> </a:t>
            </a:r>
            <a:r>
              <a:rPr/>
              <a:t>монолит</a:t>
            </a:r>
          </a:p>
        </p:txBody>
      </p:sp>
      <p:pic>
        <p:nvPicPr>
          <p:cNvPr descr="diagrams/png/compon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971800"/>
            <a:ext cx="82296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Стек.</a:t>
            </a:r>
            <a:r>
              <a:rPr/>
              <a:t> NestJS 10 / TypeScript 5 · React 18 + Vite 5 · PostgreSQL 16 · Redis 7 · MinIO (S3) · Socket.IO · Traefik.</a:t>
            </a:r>
          </a:p>
          <a:p>
            <a:pPr lvl="0" marL="0" indent="0">
              <a:buNone/>
            </a:pPr>
            <a:r>
              <a:rPr b="1"/>
              <a:t>Ключевые решения.</a:t>
            </a:r>
            <a:r>
              <a:rPr/>
              <a:t> Модульный монолит вместо микросервисов (быстрая разработка, единая БД); event-driven слой через </a:t>
            </a:r>
            <a:r>
              <a:rPr>
                <a:latin typeface="Courier"/>
              </a:rPr>
              <a:t>EventEmitter2</a:t>
            </a:r>
            <a:r>
              <a:rPr/>
              <a:t>; presigned URL для загрузки файлов; refresh-токены в Redis с детектированием повторного использования.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1.4</a:t>
            </a:r>
            <a:r>
              <a:rPr/>
              <a:t> </a:t>
            </a:r>
            <a:r>
              <a:rPr/>
              <a:t>Доменная</a:t>
            </a:r>
            <a:r>
              <a:rPr/>
              <a:t> </a:t>
            </a:r>
            <a:r>
              <a:rPr/>
              <a:t>модель</a:t>
            </a:r>
          </a:p>
        </p:txBody>
      </p:sp>
      <p:pic>
        <p:nvPicPr>
          <p:cNvPr descr="diagrams/png/cl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600200"/>
            <a:ext cx="6032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11 классов-сущностей: </a:t>
            </a:r>
            <a:r>
              <a:rPr>
                <a:latin typeface="Courier"/>
              </a:rPr>
              <a:t>Tenant</a:t>
            </a:r>
            <a:r>
              <a:rPr/>
              <a:t>, </a:t>
            </a:r>
            <a:r>
              <a:rPr>
                <a:latin typeface="Courier"/>
              </a:rPr>
              <a:t>User</a:t>
            </a:r>
            <a:r>
              <a:rPr/>
              <a:t>, </a:t>
            </a:r>
            <a:r>
              <a:rPr>
                <a:latin typeface="Courier"/>
              </a:rPr>
              <a:t>Project</a:t>
            </a:r>
            <a:r>
              <a:rPr/>
              <a:t>, </a:t>
            </a:r>
            <a:r>
              <a:rPr>
                <a:latin typeface="Courier"/>
              </a:rPr>
              <a:t>Issue</a:t>
            </a:r>
            <a:r>
              <a:rPr/>
              <a:t>, </a:t>
            </a:r>
            <a:r>
              <a:rPr>
                <a:latin typeface="Courier"/>
              </a:rPr>
              <a:t>Sprint</a:t>
            </a:r>
            <a:r>
              <a:rPr/>
              <a:t>, </a:t>
            </a:r>
            <a:r>
              <a:rPr>
                <a:latin typeface="Courier"/>
              </a:rPr>
              <a:t>BoardColumn</a:t>
            </a:r>
            <a:r>
              <a:rPr/>
              <a:t>, </a:t>
            </a:r>
            <a:r>
              <a:rPr>
                <a:latin typeface="Courier"/>
              </a:rPr>
              <a:t>Label</a:t>
            </a:r>
            <a:r>
              <a:rPr/>
              <a:t>, </a:t>
            </a:r>
            <a:r>
              <a:rPr>
                <a:latin typeface="Courier"/>
              </a:rPr>
              <a:t>IssueComment</a:t>
            </a:r>
            <a:r>
              <a:rPr/>
              <a:t>, </a:t>
            </a:r>
            <a:r>
              <a:rPr>
                <a:latin typeface="Courier"/>
              </a:rPr>
              <a:t>IssueAttachment</a:t>
            </a:r>
            <a:r>
              <a:rPr/>
              <a:t>, </a:t>
            </a:r>
            <a:r>
              <a:rPr>
                <a:latin typeface="Courier"/>
              </a:rPr>
              <a:t>IssueChangelog</a:t>
            </a:r>
            <a:r>
              <a:rPr/>
              <a:t>, </a:t>
            </a:r>
            <a:r>
              <a:rPr>
                <a:latin typeface="Courier"/>
              </a:rPr>
              <a:t>Notification</a:t>
            </a:r>
            <a:r>
              <a:rPr/>
              <a:t>. Перечисления статусов и приоритетов вынесены в Enum-ы (</a:t>
            </a:r>
            <a:r>
              <a:rPr>
                <a:latin typeface="Courier"/>
              </a:rPr>
              <a:t>IssueStatus</a:t>
            </a:r>
            <a:r>
              <a:rPr/>
              <a:t>, </a:t>
            </a:r>
            <a:r>
              <a:rPr>
                <a:latin typeface="Courier"/>
              </a:rPr>
              <a:t>IssuePriority</a:t>
            </a:r>
            <a:r>
              <a:rPr/>
              <a:t>, </a:t>
            </a:r>
            <a:r>
              <a:rPr>
                <a:latin typeface="Courier"/>
              </a:rPr>
              <a:t>SprintStatus</a:t>
            </a:r>
            <a:r>
              <a:rPr/>
              <a:t>, …).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1.5</a:t>
            </a:r>
            <a:r>
              <a:rPr/>
              <a:t> </a:t>
            </a:r>
            <a:r>
              <a:rPr/>
              <a:t>База</a:t>
            </a:r>
            <a:r>
              <a:rPr/>
              <a:t> </a:t>
            </a:r>
            <a:r>
              <a:rPr/>
              <a:t>данных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Row-Level</a:t>
            </a:r>
            <a:r>
              <a:rPr/>
              <a:t> </a:t>
            </a:r>
            <a:r>
              <a:rPr/>
              <a:t>Security</a:t>
            </a:r>
          </a:p>
        </p:txBody>
      </p:sp>
      <p:pic>
        <p:nvPicPr>
          <p:cNvPr descr="diagrams/png/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600200"/>
            <a:ext cx="35306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11 таблиц, внешние ключи </a:t>
            </a:r>
            <a:r>
              <a:rPr>
                <a:latin typeface="Courier"/>
              </a:rPr>
              <a:t>ON DELETE CASCADE</a:t>
            </a:r>
            <a:r>
              <a:rPr/>
              <a:t> внутри арендатора;</a:t>
            </a:r>
          </a:p>
          <a:p>
            <a:pPr lvl="1"/>
            <a:r>
              <a:rPr>
                <a:latin typeface="Courier"/>
              </a:rPr>
              <a:t>tsvector</a:t>
            </a:r>
            <a:r>
              <a:rPr/>
              <a:t> + триггер обновления для полнотекстового поиска;</a:t>
            </a:r>
          </a:p>
          <a:p>
            <a:pPr lvl="1"/>
            <a:r>
              <a:rPr b="1"/>
              <a:t>RLS-политики на каждой таблице</a:t>
            </a:r>
            <a:r>
              <a:rPr/>
              <a:t> + </a:t>
            </a:r>
            <a:r>
              <a:rPr>
                <a:latin typeface="Courier"/>
              </a:rPr>
              <a:t>SET app.current_tenant</a:t>
            </a:r>
            <a:r>
              <a:rPr/>
              <a:t> в начале запроса — изоляция арендаторов на уровне СУБД.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1.6</a:t>
            </a:r>
            <a:r>
              <a:rPr/>
              <a:t> </a:t>
            </a:r>
            <a:r>
              <a:rPr/>
              <a:t>Варианты</a:t>
            </a:r>
            <a:r>
              <a:rPr/>
              <a:t> </a:t>
            </a:r>
            <a:r>
              <a:rPr/>
              <a:t>использования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паттерны</a:t>
            </a:r>
          </a:p>
        </p:txBody>
      </p:sp>
      <p:pic>
        <p:nvPicPr>
          <p:cNvPr descr="diagrams/png/use_c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600200"/>
            <a:ext cx="32639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Применённые паттерны.</a:t>
            </a:r>
            <a:r>
              <a:rPr/>
              <a:t> Modular Monolith · Repository (TypeORM) · DTO + Validation Pipe (Zod) · Event-Driven (EventEmitter2) · Strategy (JwtStrategy) · Observer (WebSocket-уведомления) · Factory (фабрики уведомлений по типу события).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ГЛАВА</a:t>
            </a:r>
            <a:r>
              <a:rPr/>
              <a:t> </a:t>
            </a:r>
            <a:r>
              <a:rPr/>
              <a:t>2.</a:t>
            </a:r>
            <a:r>
              <a:rPr/>
              <a:t> </a:t>
            </a:r>
            <a:r>
              <a:rPr/>
              <a:t>РЕАЛИЗАЦИЯ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Структура кода, аутентификация, управление задачами, real-time, уведомления, развёртывание.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2.1</a:t>
            </a:r>
            <a:r>
              <a:rPr/>
              <a:t> </a:t>
            </a:r>
            <a:r>
              <a:rPr/>
              <a:t>Структура</a:t>
            </a:r>
            <a:r>
              <a:rPr/>
              <a:t> </a:t>
            </a:r>
            <a:r>
              <a:rPr/>
              <a:t>исходного</a:t>
            </a:r>
            <a:r>
              <a:rPr/>
              <a:t> </a:t>
            </a:r>
            <a:r>
              <a:rPr/>
              <a:t>кода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Монорепозиторий</a:t>
            </a:r>
          </a:p>
          <a:p>
            <a:pPr lvl="0" indent="0">
              <a:buNone/>
            </a:pPr>
            <a:r>
              <a:rPr>
                <a:latin typeface="Courier"/>
              </a:rPr>
              <a:t>apps/
  api/    NestJS 10  (auth, tenants, projects, issues,
          sprints, boards, comments, attachments,
          notifications, search, billing)
  web/    React 18 + Vite 5 + Tailwind + Zustand
infrastructure/
  postgres/init.sql   схема + RLS
  docker/             Dockerfile-ы
docker-compose.yml    8 сервисов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s/png/pack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89200"/>
            <a:ext cx="82296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2.2</a:t>
            </a:r>
            <a:r>
              <a:rPr/>
              <a:t> </a:t>
            </a:r>
            <a:r>
              <a:rPr/>
              <a:t>Аутентификация:</a:t>
            </a:r>
            <a:r>
              <a:rPr/>
              <a:t> </a:t>
            </a:r>
            <a:r>
              <a:rPr/>
              <a:t>JWT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refresh-rotation</a:t>
            </a:r>
          </a:p>
        </p:txBody>
      </p:sp>
      <p:pic>
        <p:nvPicPr>
          <p:cNvPr descr="diagrams/png/sequence_log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81200"/>
            <a:ext cx="8229600" cy="375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bcrypt-проверка пароля → выдача access (15 мин) и refresh (30 дней);</a:t>
            </a:r>
          </a:p>
          <a:p>
            <a:pPr lvl="1"/>
            <a:r>
              <a:rPr/>
              <a:t>refresh-токен хранится в Redis по идентификатору сессии;</a:t>
            </a:r>
          </a:p>
          <a:p>
            <a:pPr lvl="1"/>
            <a:r>
              <a:rPr/>
              <a:t>при обновлении старый токен инвалидируется (rotation);</a:t>
            </a:r>
          </a:p>
          <a:p>
            <a:pPr lvl="1"/>
            <a:r>
              <a:rPr/>
              <a:t>повторное использование старого токена → отзыв всей цепочки сессий.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2.3</a:t>
            </a:r>
            <a:r>
              <a:rPr/>
              <a:t> </a:t>
            </a:r>
            <a:r>
              <a:rPr/>
              <a:t>Управление</a:t>
            </a:r>
            <a:r>
              <a:rPr/>
              <a:t> </a:t>
            </a:r>
            <a:r>
              <a:rPr/>
              <a:t>задачами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Kanban</a:t>
            </a:r>
          </a:p>
        </p:txBody>
      </p:sp>
      <p:pic>
        <p:nvPicPr>
          <p:cNvPr descr="diagrams/png/sequence_move_iss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717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float-based ordering: </a:t>
            </a:r>
            <a:r>
              <a:rPr>
                <a:latin typeface="Courier"/>
              </a:rPr>
              <a:t>position = (prev + next) / 2</a:t>
            </a:r>
            <a:r>
              <a:rPr/>
              <a:t>;</a:t>
            </a:r>
          </a:p>
          <a:p>
            <a:pPr lvl="1"/>
            <a:r>
              <a:rPr/>
              <a:t>автоматическая ребалансировка при сжатии диапазона;</a:t>
            </a:r>
          </a:p>
          <a:p>
            <a:pPr lvl="1"/>
            <a:r>
              <a:rPr/>
              <a:t>запись в </a:t>
            </a:r>
            <a:r>
              <a:rPr>
                <a:latin typeface="Courier"/>
              </a:rPr>
              <a:t>IssueChangelog</a:t>
            </a:r>
            <a:r>
              <a:rPr/>
              <a:t>, событие </a:t>
            </a:r>
            <a:r>
              <a:rPr>
                <a:latin typeface="Courier"/>
              </a:rPr>
              <a:t>issue.updated</a:t>
            </a:r>
            <a:r>
              <a:rPr/>
              <a:t>, WebSocket-broadcast подписчикам проекта.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2.4</a:t>
            </a:r>
            <a:r>
              <a:rPr/>
              <a:t> </a:t>
            </a:r>
            <a:r>
              <a:rPr/>
              <a:t>Жизненный</a:t>
            </a:r>
            <a:r>
              <a:rPr/>
              <a:t> </a:t>
            </a:r>
            <a:r>
              <a:rPr/>
              <a:t>цикл</a:t>
            </a:r>
            <a:r>
              <a:rPr/>
              <a:t> </a:t>
            </a:r>
            <a:r>
              <a:rPr/>
              <a:t>задачи</a:t>
            </a:r>
          </a:p>
        </p:txBody>
      </p:sp>
      <p:pic>
        <p:nvPicPr>
          <p:cNvPr descr="diagrams/png/state_iss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12900" y="1600200"/>
            <a:ext cx="5905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 </a:t>
            </a:r>
          </a:p>
          <a:p>
            <a:pPr lvl="0" marL="0" indent="0">
              <a:buNone/>
            </a:pPr>
            <a:r>
              <a:rPr/>
              <a:t>Статусы: </a:t>
            </a:r>
            <a:r>
              <a:rPr>
                <a:latin typeface="Courier"/>
              </a:rPr>
              <a:t>BACKLOG → TODO → IN_PROGRESS → IN_REVIEW → DONE</a:t>
            </a:r>
            <a:r>
              <a:rPr/>
              <a:t>, с возможностью возврата в </a:t>
            </a:r>
            <a:r>
              <a:rPr>
                <a:latin typeface="Courier"/>
              </a:rPr>
              <a:t>TODO</a:t>
            </a:r>
            <a:r>
              <a:rPr/>
              <a:t> и перехода в </a:t>
            </a:r>
            <a:r>
              <a:rPr>
                <a:latin typeface="Courier"/>
              </a:rPr>
              <a:t>CANCELLED</a:t>
            </a:r>
            <a:r>
              <a:rPr/>
              <a:t>. Каждый переход фиксируется в </a:t>
            </a:r>
            <a:r>
              <a:rPr>
                <a:latin typeface="Courier"/>
              </a:rPr>
              <a:t>IssueChangelog</a:t>
            </a:r>
            <a:r>
              <a:rPr/>
              <a:t> и порождает событие.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2.5</a:t>
            </a:r>
            <a:r>
              <a:rPr/>
              <a:t> </a:t>
            </a:r>
            <a:r>
              <a:rPr/>
              <a:t>Real-time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уведомления</a:t>
            </a:r>
          </a:p>
        </p:txBody>
      </p:sp>
      <p:pic>
        <p:nvPicPr>
          <p:cNvPr descr="diagrams/png/sequence_create_iss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22500"/>
            <a:ext cx="82296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Socket.IO-gateway, комнаты по </a:t>
            </a:r>
            <a:r>
              <a:rPr>
                <a:latin typeface="Courier"/>
              </a:rPr>
              <a:t>tenantId</a:t>
            </a:r>
            <a:r>
              <a:rPr/>
              <a:t> и </a:t>
            </a:r>
            <a:r>
              <a:rPr>
                <a:latin typeface="Courier"/>
              </a:rPr>
              <a:t>projectId</a:t>
            </a:r>
            <a:r>
              <a:rPr/>
              <a:t>;</a:t>
            </a:r>
          </a:p>
          <a:p>
            <a:pPr lvl="1"/>
            <a:r>
              <a:rPr/>
              <a:t>7 типов уведомлений (assigned, mentioned, status_changed, …);</a:t>
            </a:r>
          </a:p>
          <a:p>
            <a:pPr lvl="1"/>
            <a:r>
              <a:rPr/>
              <a:t>доставка in-app (WebSocket) + e-mail (SMTP, шаблоны);</a:t>
            </a:r>
          </a:p>
          <a:p>
            <a:pPr lvl="1"/>
            <a:r>
              <a:rPr/>
              <a:t>идемпотентная обработка событий через </a:t>
            </a:r>
            <a:r>
              <a:rPr>
                <a:latin typeface="Courier"/>
              </a:rPr>
              <a:t>EventEmitter2</a:t>
            </a:r>
            <a:r>
              <a:rPr/>
              <a:t>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2.6</a:t>
            </a:r>
            <a:r>
              <a:rPr/>
              <a:t> </a:t>
            </a:r>
            <a:r>
              <a:rPr/>
              <a:t>Развёртывание</a:t>
            </a:r>
          </a:p>
        </p:txBody>
      </p:sp>
      <p:pic>
        <p:nvPicPr>
          <p:cNvPr descr="diagrams/png/deploy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0" y="1600200"/>
            <a:ext cx="66167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docker compose up</a:t>
            </a:r>
            <a:r>
              <a:rPr/>
              <a:t> поднимает 8 контейнеров: Traefik (TLS, маршрутизация), </a:t>
            </a:r>
            <a:r>
              <a:rPr>
                <a:latin typeface="Courier"/>
              </a:rPr>
              <a:t>web</a:t>
            </a:r>
            <a:r>
              <a:rPr/>
              <a:t> (Vite preview), </a:t>
            </a:r>
            <a:r>
              <a:rPr>
                <a:latin typeface="Courier"/>
              </a:rPr>
              <a:t>api</a:t>
            </a:r>
            <a:r>
              <a:rPr/>
              <a:t> (NestJS), PostgreSQL, Redis, MinIO, Adminer. Конфигурация — через </a:t>
            </a:r>
            <a:r>
              <a:rPr>
                <a:latin typeface="Courier"/>
              </a:rPr>
              <a:t>.env</a:t>
            </a:r>
            <a:r>
              <a:rPr/>
              <a:t>, секреты не в репозитории.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Заключение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Получено</a:t>
            </a:r>
          </a:p>
          <a:p>
            <a:pPr lvl="1"/>
            <a:r>
              <a:rPr/>
              <a:t>спроектирован прототип multi-tenant СУЗ TaskHub;</a:t>
            </a:r>
          </a:p>
          <a:p>
            <a:pPr lvl="1"/>
            <a:r>
              <a:rPr/>
              <a:t>реализован REST + WebSocket API на NestJS, web-клиент на React;</a:t>
            </a:r>
          </a:p>
          <a:p>
            <a:pPr lvl="1"/>
            <a:r>
              <a:rPr/>
              <a:t>БД с RLS-политиками для изоляции арендаторов;</a:t>
            </a:r>
          </a:p>
          <a:p>
            <a:pPr lvl="1"/>
            <a:r>
              <a:rPr/>
              <a:t>12 UML-диаграмм покрывают use case, классы, ER, поведение, компоненты, развёртывание и пакеты.</a:t>
            </a:r>
          </a:p>
          <a:p>
            <a:pPr lvl="0" marL="0" indent="0">
              <a:buNone/>
            </a:pPr>
            <a:r>
              <a:rPr b="1"/>
              <a:t>Перспективы развития.</a:t>
            </a:r>
            <a:r>
              <a:rPr/>
              <a:t> Мобильный клиент, AI-ассистент для оценки задач, интеграции с Git-провайдерами и CI/CD, переход к event sourcing для аудит-лога.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Спасибо</a:t>
            </a:r>
            <a:r>
              <a:rPr/>
              <a:t> </a:t>
            </a:r>
            <a:r>
              <a:rPr/>
              <a:t>за</a:t>
            </a:r>
            <a:r>
              <a:rPr/>
              <a:t> </a:t>
            </a:r>
            <a:r>
              <a:rPr/>
              <a:t>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Готов ответить на вопросы.</a:t>
            </a:r>
          </a:p>
          <a:p>
            <a:pPr lvl="0" marL="0" indent="0">
              <a:buNone/>
            </a:pPr>
            <a:r>
              <a:rPr/>
              <a:t>Репозиторий и документ работы — в приложении к курсовой.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прототипа системы управления задачами TaskHub</dc:title>
  <dc:creator>Студент: ______________________ · Группа: ________</dc:creator>
  <cp:keywords/>
  <dcterms:created xsi:type="dcterms:W3CDTF">2026-04-29T21:06:43Z</dcterms:created>
  <dcterms:modified xsi:type="dcterms:W3CDTF">2026-04-29T21:06:43Z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Руководитель: ______________________</vt:lpwstr>
  </property>
  <property fmtid="{D5CDD505-2E9C-101B-9397-08002B2CF9AE}" pid="3" name="subtitle">
    <vt:lpwstr>Курсовая работа · защита</vt:lpwstr>
  </property>
</Properties>
</file>