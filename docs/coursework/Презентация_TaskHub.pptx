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2700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00000"/>
            <a:ext cx="12192119" cy="900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288000"/>
            <a:ext cx="11112119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МИНОБРНАУКИ РОССИИ · Высшее учебное заведение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720000"/>
            <a:ext cx="1111211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77B4"/>
                </a:solidFill>
                <a:latin typeface="Calibri"/>
              </a:rPr>
              <a:t>Защита курсовой работы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152000"/>
            <a:ext cx="11112119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Разработка прототипа системы
управления задачами (наподобие Jira)
с полным комплектом UML-диаграмм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3420000"/>
            <a:ext cx="10752119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F2D52"/>
                </a:solidFill>
                <a:latin typeface="Calibri"/>
              </a:rPr>
              <a:t>Тема:  </a:t>
            </a:r>
            <a:r>
              <a:rPr sz="1600">
                <a:solidFill>
                  <a:srgbClr val="1A1F2B"/>
                </a:solidFill>
                <a:latin typeface="Calibri"/>
              </a:rPr>
              <a:t>Прототип TaskHub — самостоятельно развёртываемая SaaS-система управления задачами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F2D52"/>
                </a:solidFill>
                <a:latin typeface="Calibri"/>
              </a:rPr>
              <a:t>Студент:  </a:t>
            </a:r>
            <a:r>
              <a:rPr sz="1600">
                <a:solidFill>
                  <a:srgbClr val="1A1F2B"/>
                </a:solidFill>
                <a:latin typeface="Calibri"/>
              </a:rPr>
              <a:t>____________________________________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F2D52"/>
                </a:solidFill>
                <a:latin typeface="Calibri"/>
              </a:rPr>
              <a:t>Группа:  </a:t>
            </a:r>
            <a:r>
              <a:rPr sz="1600">
                <a:solidFill>
                  <a:srgbClr val="1A1F2B"/>
                </a:solidFill>
                <a:latin typeface="Calibri"/>
              </a:rPr>
              <a:t>____________________________________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F2D52"/>
                </a:solidFill>
                <a:latin typeface="Calibri"/>
              </a:rPr>
              <a:t>Научный руководитель:  </a:t>
            </a:r>
            <a:r>
              <a:rPr sz="1600">
                <a:solidFill>
                  <a:srgbClr val="1A1F2B"/>
                </a:solidFill>
                <a:latin typeface="Calibri"/>
              </a:rPr>
              <a:t>____________________________________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F2D52"/>
                </a:solidFill>
                <a:latin typeface="Calibri"/>
              </a:rPr>
              <a:t>Год:  </a:t>
            </a:r>
            <a:r>
              <a:rPr sz="1600">
                <a:solidFill>
                  <a:srgbClr val="1A1F2B"/>
                </a:solidFill>
                <a:latin typeface="Calibri"/>
              </a:rPr>
              <a:t>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54000"/>
            <a:ext cx="11616119" cy="503999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Актуальность 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76000"/>
            <a:ext cx="12192119" cy="288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4000" y="1044000"/>
            <a:ext cx="6349265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1A1F2B"/>
                </a:solidFill>
                <a:latin typeface="Calibri"/>
              </a:rPr>
              <a:t>•  Распределённые команды требуют единой среды для планирования и контроля задач.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A1F2B"/>
                </a:solidFill>
                <a:latin typeface="Calibri"/>
              </a:rPr>
              <a:t>•  Зарубежные SaaS (Jira, Asana, Linear) — vendor lock-in, рост стоимости лицензий, требования к локализации данных и платежам.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A1F2B"/>
                </a:solidFill>
                <a:latin typeface="Calibri"/>
              </a:rPr>
              <a:t>•  B2B-SaaS как продуктовая модель: multi-tenant изоляция + тарифные планы + интеграция с локальной платёжной системой.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1A1F2B"/>
                </a:solidFill>
                <a:latin typeface="Calibri"/>
              </a:rPr>
              <a:t>•  Современный стек (NestJS, React, PostgreSQL) делает разработку такого прототипа реалистичной задачей курсовой работы.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50471" y="1044000"/>
            <a:ext cx="4617647" cy="460530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66471" y="1188000"/>
            <a:ext cx="4185647" cy="50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77B4"/>
                </a:solidFill>
                <a:latin typeface="Calibri"/>
              </a:rPr>
              <a:t>85%+</a:t>
            </a:r>
          </a:p>
          <a:p>
            <a:r>
              <a:rPr sz="1300">
                <a:solidFill>
                  <a:srgbClr val="555C66"/>
                </a:solidFill>
                <a:latin typeface="Calibri"/>
              </a:rPr>
              <a:t>команд используют ≥1 системы трекинга</a:t>
            </a:r>
          </a:p>
          <a:p>
            <a:pPr algn="l">
              <a:spcBef>
                <a:spcPts val="1000"/>
              </a:spcBef>
            </a:pPr>
            <a:r>
              <a:rPr sz="2800" b="1">
                <a:solidFill>
                  <a:srgbClr val="1F77B4"/>
                </a:solidFill>
                <a:latin typeface="Calibri"/>
              </a:rPr>
              <a:t>11</a:t>
            </a:r>
          </a:p>
          <a:p>
            <a:r>
              <a:rPr sz="1300">
                <a:solidFill>
                  <a:srgbClr val="555C66"/>
                </a:solidFill>
                <a:latin typeface="Calibri"/>
              </a:rPr>
              <a:t>типов UML-диаграмм в стандарте 2.5</a:t>
            </a:r>
          </a:p>
          <a:p>
            <a:pPr algn="l">
              <a:spcBef>
                <a:spcPts val="1000"/>
              </a:spcBef>
            </a:pPr>
            <a:r>
              <a:rPr sz="2800" b="1">
                <a:solidFill>
                  <a:srgbClr val="1F77B4"/>
                </a:solidFill>
                <a:latin typeface="Calibri"/>
              </a:rPr>
              <a:t>4 тарифа</a:t>
            </a:r>
          </a:p>
          <a:p>
            <a:r>
              <a:rPr sz="1300">
                <a:solidFill>
                  <a:srgbClr val="555C66"/>
                </a:solidFill>
                <a:latin typeface="Calibri"/>
              </a:rPr>
              <a:t>FREE · BASIC · PRO · ENTERPRISE</a:t>
            </a:r>
          </a:p>
          <a:p>
            <a:pPr algn="l">
              <a:spcBef>
                <a:spcPts val="1000"/>
              </a:spcBef>
            </a:pPr>
            <a:r>
              <a:rPr sz="2800" b="1">
                <a:solidFill>
                  <a:srgbClr val="1F77B4"/>
                </a:solidFill>
                <a:latin typeface="Calibri"/>
              </a:rPr>
              <a:t>RLS</a:t>
            </a:r>
          </a:p>
          <a:p>
            <a:r>
              <a:rPr sz="1300">
                <a:solidFill>
                  <a:srgbClr val="555C66"/>
                </a:solidFill>
                <a:latin typeface="Calibri"/>
              </a:rPr>
              <a:t>механизм изоляции арендаторов в PostgreSQL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6534000"/>
            <a:ext cx="1161611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555C66"/>
                </a:solidFill>
                <a:latin typeface="Calibri"/>
              </a:rPr>
              <a:t>TaskHub · защита курсовой работы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119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C66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54000"/>
            <a:ext cx="11616119" cy="503999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Цель и задачи работы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76000"/>
            <a:ext cx="12192119" cy="288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24000" y="1044000"/>
            <a:ext cx="11544119" cy="936000"/>
          </a:xfrm>
          <a:prstGeom prst="roundRect">
            <a:avLst>
              <a:gd name="adj" fmla="val 8000"/>
            </a:avLst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4000" y="1152000"/>
            <a:ext cx="11184119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77B4"/>
                </a:solidFill>
                <a:latin typeface="Calibri"/>
              </a:rPr>
              <a:t>Цель: </a:t>
            </a:r>
            <a:r>
              <a:rPr sz="2000">
                <a:solidFill>
                  <a:srgbClr val="FFFFFF"/>
                </a:solidFill>
                <a:latin typeface="Calibri"/>
              </a:rPr>
              <a:t>разработать прототип многопользовательской системы управления задачами и подготовить полный комплект UML-диаграмм, описывающих её архитектуру и поведение.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000" y="2124000"/>
            <a:ext cx="11544119" cy="43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D52"/>
                </a:solidFill>
                <a:latin typeface="Calibri"/>
              </a:rPr>
              <a:t>Задачи: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1. Проанализировать предметную область и существующие решения (Jira, Asana, Linear, Trello).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2. Спроектировать архитектуру: модули, БД, протоколы взаимодействия, изоляцию арендаторов.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3. Реализовать прототип на стеке NestJS + React + PostgreSQL + Redis + MinIO.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4. Построить 11 UML-диаграмм (use case, class, ER, sequence, activity, state, component, deployment, package).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5. Оформить пояснительную записку по требованиям ГОСТ.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6534000"/>
            <a:ext cx="1161611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555C66"/>
                </a:solidFill>
                <a:latin typeface="Calibri"/>
              </a:rPr>
              <a:t>TaskHub · защита курсовой работы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119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C66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0000" y="2736000"/>
            <a:ext cx="1260000" cy="648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2160000"/>
            <a:ext cx="10752119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77B4"/>
                </a:solidFill>
                <a:latin typeface="Calibri"/>
              </a:rPr>
              <a:t>ГЛАВА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2951999"/>
            <a:ext cx="10752119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Теоретическая часть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4320000"/>
            <a:ext cx="10752119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F2F5F9"/>
                </a:solidFill>
                <a:latin typeface="Calibri"/>
              </a:rPr>
              <a:t>Понятие систем управления задачами, анализ аналогов, обоснование выбора UML 2.5 и технологического стека прототипа.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534000"/>
            <a:ext cx="1161611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F2F5F9"/>
                </a:solidFill>
                <a:latin typeface="Calibri"/>
              </a:rPr>
              <a:t>TaskHub · защита курсовой работы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119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2F5F9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54000"/>
            <a:ext cx="11616119" cy="503999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1.1. Системы управления задачами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76000"/>
            <a:ext cx="12192119" cy="288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000" y="666000"/>
            <a:ext cx="1161611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Понятие, назначение, классификация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000" y="1044000"/>
            <a:ext cx="6349265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2D52"/>
                </a:solidFill>
                <a:latin typeface="Calibri"/>
              </a:rPr>
              <a:t>Определение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1F2B"/>
                </a:solidFill>
                <a:latin typeface="Calibri"/>
              </a:rPr>
              <a:t>Система управления задачами (Issue / Task Tracking System) — программное средство для регистрации, декомпозиции, планирования и контроля задач проектной команды.</a:t>
            </a:r>
          </a:p>
          <a:p>
            <a:pPr>
              <a:spcBef>
                <a:spcPts val="1400"/>
              </a:spcBef>
            </a:pPr>
            <a:r>
              <a:rPr sz="1800" b="1">
                <a:solidFill>
                  <a:srgbClr val="0F2D52"/>
                </a:solidFill>
                <a:latin typeface="Calibri"/>
              </a:rPr>
              <a:t>Базовые функции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F2B"/>
                </a:solidFill>
                <a:latin typeface="Calibri"/>
              </a:rPr>
              <a:t>•  регистрация задач, ошибок и пользовательских историй;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F2B"/>
                </a:solidFill>
                <a:latin typeface="Calibri"/>
              </a:rPr>
              <a:t>•  управление статусами и жизненным циклом задач;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F2B"/>
                </a:solidFill>
                <a:latin typeface="Calibri"/>
              </a:rPr>
              <a:t>•  приоритизация и оценка трудозатрат;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F2B"/>
                </a:solidFill>
                <a:latin typeface="Calibri"/>
              </a:rPr>
              <a:t>•  коммуникация (комментарии, уведомления, упоминания);</a:t>
            </a:r>
          </a:p>
          <a:p>
            <a:pPr>
              <a:spcBef>
                <a:spcPts val="300"/>
              </a:spcBef>
            </a:pPr>
            <a:r>
              <a:rPr sz="1400">
                <a:solidFill>
                  <a:srgbClr val="1A1F2B"/>
                </a:solidFill>
                <a:latin typeface="Calibri"/>
              </a:rPr>
              <a:t>•  отчётность и метрики (burndown, velocity, lead time).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50471" y="1044000"/>
            <a:ext cx="4617647" cy="498456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30471" y="1188000"/>
            <a:ext cx="4257647" cy="4696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77B4"/>
                </a:solidFill>
                <a:latin typeface="Calibri"/>
              </a:rPr>
              <a:t>Классификация</a:t>
            </a:r>
          </a:p>
          <a:p>
            <a:pPr>
              <a:spcBef>
                <a:spcPts val="800"/>
              </a:spcBef>
            </a:pPr>
            <a:r>
              <a:rPr sz="1400" b="1">
                <a:solidFill>
                  <a:srgbClr val="0F2D52"/>
                </a:solidFill>
                <a:latin typeface="Calibri"/>
              </a:rPr>
              <a:t>По модели:  </a:t>
            </a:r>
            <a:r>
              <a:rPr sz="1400">
                <a:solidFill>
                  <a:srgbClr val="1A1F2B"/>
                </a:solidFill>
                <a:latin typeface="Calibri"/>
              </a:rPr>
              <a:t>SaaS · on-premise · self-hosted</a:t>
            </a:r>
          </a:p>
          <a:p>
            <a:pPr>
              <a:spcBef>
                <a:spcPts val="800"/>
              </a:spcBef>
            </a:pPr>
            <a:r>
              <a:rPr sz="1400" b="1">
                <a:solidFill>
                  <a:srgbClr val="0F2D52"/>
                </a:solidFill>
                <a:latin typeface="Calibri"/>
              </a:rPr>
              <a:t>По методологии:  </a:t>
            </a:r>
            <a:r>
              <a:rPr sz="1400">
                <a:solidFill>
                  <a:srgbClr val="1A1F2B"/>
                </a:solidFill>
                <a:latin typeface="Calibri"/>
              </a:rPr>
              <a:t>Kanban · Scrum · Waterfall</a:t>
            </a:r>
          </a:p>
          <a:p>
            <a:pPr>
              <a:spcBef>
                <a:spcPts val="800"/>
              </a:spcBef>
            </a:pPr>
            <a:r>
              <a:rPr sz="1400" b="1">
                <a:solidFill>
                  <a:srgbClr val="0F2D52"/>
                </a:solidFill>
                <a:latin typeface="Calibri"/>
              </a:rPr>
              <a:t>По арендности:  </a:t>
            </a:r>
            <a:r>
              <a:rPr sz="1400">
                <a:solidFill>
                  <a:srgbClr val="1A1F2B"/>
                </a:solidFill>
                <a:latin typeface="Calibri"/>
              </a:rPr>
              <a:t>Single-tenant · Multi-tenant</a:t>
            </a:r>
          </a:p>
          <a:p>
            <a:pPr>
              <a:spcBef>
                <a:spcPts val="800"/>
              </a:spcBef>
            </a:pPr>
            <a:r>
              <a:rPr sz="1400" b="1">
                <a:solidFill>
                  <a:srgbClr val="0F2D52"/>
                </a:solidFill>
                <a:latin typeface="Calibri"/>
              </a:rPr>
              <a:t>Монетизация:  </a:t>
            </a:r>
            <a:r>
              <a:rPr sz="1400">
                <a:solidFill>
                  <a:srgbClr val="1A1F2B"/>
                </a:solidFill>
                <a:latin typeface="Calibri"/>
              </a:rPr>
              <a:t>Free · Freemium · Subscription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6534000"/>
            <a:ext cx="1161611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555C66"/>
                </a:solidFill>
                <a:latin typeface="Calibri"/>
              </a:rPr>
              <a:t>TaskHub · защита курсовой работы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119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C66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54000"/>
            <a:ext cx="11616119" cy="503999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Сравнение существующих решений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76000"/>
            <a:ext cx="12192119" cy="288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000" y="666000"/>
            <a:ext cx="1161611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Анализ аналогов задал требования к прототипу TaskHub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4000" y="1188000"/>
          <a:ext cx="11544117" cy="4605300.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2353"/>
                <a:gridCol w="2077941"/>
                <a:gridCol w="2077941"/>
                <a:gridCol w="2077941"/>
                <a:gridCol w="2077941"/>
              </a:tblGrid>
              <a:tr h="657900">
                <a:tc>
                  <a:txBody>
                    <a:bodyPr lIns="72000" rIns="72000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Система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Поставка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Multi-tenant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Тарифы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Гибкость WF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657900">
                <a:tc>
                  <a:txBody>
                    <a:bodyPr lIns="72000" rIns="72000"/>
                    <a:lstStyle/>
                    <a:p>
                      <a:pPr algn="l"/>
                      <a:r>
                        <a:rPr sz="1400" b="1">
                          <a:solidFill>
                            <a:srgbClr val="1A1F2B"/>
                          </a:solidFill>
                          <a:latin typeface="Calibri"/>
                        </a:rPr>
                        <a:t>Atlassian Jira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Cloud + DC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Per-user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Высокая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7900">
                <a:tc>
                  <a:txBody>
                    <a:bodyPr lIns="72000" rIns="72000"/>
                    <a:lstStyle/>
                    <a:p>
                      <a:pPr algn="l"/>
                      <a:r>
                        <a:rPr sz="1400" b="1">
                          <a:solidFill>
                            <a:srgbClr val="1A1F2B"/>
                          </a:solidFill>
                          <a:latin typeface="Calibri"/>
                        </a:rPr>
                        <a:t>GitHub Projects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SaaS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С GitHub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Средняя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657900">
                <a:tc>
                  <a:txBody>
                    <a:bodyPr lIns="72000" rIns="72000"/>
                    <a:lstStyle/>
                    <a:p>
                      <a:pPr algn="l"/>
                      <a:r>
                        <a:rPr sz="1400" b="1">
                          <a:solidFill>
                            <a:srgbClr val="1A1F2B"/>
                          </a:solidFill>
                          <a:latin typeface="Calibri"/>
                        </a:rPr>
                        <a:t>Asana / Trello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SaaS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Free /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Низкая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7900">
                <a:tc>
                  <a:txBody>
                    <a:bodyPr lIns="72000" rIns="72000"/>
                    <a:lstStyle/>
                    <a:p>
                      <a:pPr algn="l"/>
                      <a:r>
                        <a:rPr sz="1400" b="1">
                          <a:solidFill>
                            <a:srgbClr val="1A1F2B"/>
                          </a:solidFill>
                          <a:latin typeface="Calibri"/>
                        </a:rPr>
                        <a:t>YouTrack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Cloud + on-prem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Огранич.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Per-user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Высокая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657900">
                <a:tc>
                  <a:txBody>
                    <a:bodyPr lIns="72000" rIns="72000"/>
                    <a:lstStyle/>
                    <a:p>
                      <a:pPr algn="l"/>
                      <a:r>
                        <a:rPr sz="1400" b="1">
                          <a:solidFill>
                            <a:srgbClr val="1A1F2B"/>
                          </a:solidFill>
                          <a:latin typeface="Calibri"/>
                        </a:rPr>
                        <a:t>OpenProject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On-prem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Community / 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0">
                          <a:solidFill>
                            <a:srgbClr val="1A1F2B"/>
                          </a:solidFill>
                          <a:latin typeface="Calibri"/>
                        </a:rPr>
                        <a:t>Средняя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7900">
                <a:tc>
                  <a:txBody>
                    <a:bodyPr lIns="72000" rIns="72000"/>
                    <a:lstStyle/>
                    <a:p>
                      <a:pPr algn="l"/>
                      <a:r>
                        <a:rPr sz="1400" b="1">
                          <a:solidFill>
                            <a:srgbClr val="0F2D52"/>
                          </a:solidFill>
                          <a:latin typeface="Calibri"/>
                        </a:rPr>
                        <a:t>TaskHub (proto)</a:t>
                      </a:r>
                    </a:p>
                  </a:txBody>
                  <a:tcPr>
                    <a:solidFill>
                      <a:srgbClr val="E8F1FA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1">
                          <a:solidFill>
                            <a:srgbClr val="0F2D52"/>
                          </a:solidFill>
                          <a:latin typeface="Calibri"/>
                        </a:rPr>
                        <a:t>On-prem (Docker)</a:t>
                      </a:r>
                    </a:p>
                  </a:txBody>
                  <a:tcPr>
                    <a:solidFill>
                      <a:srgbClr val="E8F1FA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1">
                          <a:solidFill>
                            <a:srgbClr val="0F2D52"/>
                          </a:solidFill>
                          <a:latin typeface="Calibri"/>
                        </a:rPr>
                        <a:t>Да (RLS)</a:t>
                      </a:r>
                    </a:p>
                  </a:txBody>
                  <a:tcPr>
                    <a:solidFill>
                      <a:srgbClr val="E8F1FA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1">
                          <a:solidFill>
                            <a:srgbClr val="0F2D52"/>
                          </a:solidFill>
                          <a:latin typeface="Calibri"/>
                        </a:rPr>
                        <a:t>4 плана + YooKassa</a:t>
                      </a:r>
                    </a:p>
                  </a:txBody>
                  <a:tcPr>
                    <a:solidFill>
                      <a:srgbClr val="E8F1FA"/>
                    </a:solidFill>
                  </a:tcPr>
                </a:tc>
                <a:tc>
                  <a:txBody>
                    <a:bodyPr lIns="72000" rIns="72000"/>
                    <a:lstStyle/>
                    <a:p>
                      <a:pPr algn="ctr"/>
                      <a:r>
                        <a:rPr sz="1400" b="1">
                          <a:solidFill>
                            <a:srgbClr val="0F2D52"/>
                          </a:solidFill>
                          <a:latin typeface="Calibri"/>
                        </a:rPr>
                        <a:t>Высокая</a:t>
                      </a:r>
                    </a:p>
                  </a:txBody>
                  <a:tcPr>
                    <a:solidFill>
                      <a:srgbClr val="E8F1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88000" y="6534000"/>
            <a:ext cx="1161611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555C66"/>
                </a:solidFill>
                <a:latin typeface="Calibri"/>
              </a:rPr>
              <a:t>TaskHub · защита курсовой работы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119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C66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54000"/>
            <a:ext cx="11616119" cy="503999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1.3. UML 2.5 как инструмент проектирования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76000"/>
            <a:ext cx="12192119" cy="288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000" y="666000"/>
            <a:ext cx="1161611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Унифицированный язык моделирования: 14 типов диаграмм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000" y="1044000"/>
            <a:ext cx="5592059" cy="325080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4000" y="1044000"/>
            <a:ext cx="5592059" cy="251999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000" y="1080000"/>
            <a:ext cx="537605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Структурные диаграммы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000" y="1440000"/>
            <a:ext cx="5304059" cy="27468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1A1F2B"/>
                </a:solidFill>
                <a:latin typeface="Calibri"/>
              </a:rPr>
              <a:t>•  Class — классы и связи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1A1F2B"/>
                </a:solidFill>
                <a:latin typeface="Calibri"/>
              </a:rPr>
              <a:t>•  Component — компоненты и интерфейсы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1A1F2B"/>
                </a:solidFill>
                <a:latin typeface="Calibri"/>
              </a:rPr>
              <a:t>•  Deployment — узлы и артефакты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1A1F2B"/>
                </a:solidFill>
                <a:latin typeface="Calibri"/>
              </a:rPr>
              <a:t>•  Package — модульная декомпозиция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1A1F2B"/>
                </a:solidFill>
                <a:latin typeface="Calibri"/>
              </a:rPr>
              <a:t>•  Object, Composite, Profile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6059" y="1044000"/>
            <a:ext cx="5592059" cy="325080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6059" y="1044000"/>
            <a:ext cx="5592059" cy="251999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04059" y="1080000"/>
            <a:ext cx="537605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Поведенческие диаграммы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0059" y="1440000"/>
            <a:ext cx="5304059" cy="27468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>
                <a:solidFill>
                  <a:srgbClr val="1A1F2B"/>
                </a:solidFill>
                <a:latin typeface="Calibri"/>
              </a:rPr>
              <a:t>•  Use Case — сценарии использования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1A1F2B"/>
                </a:solidFill>
                <a:latin typeface="Calibri"/>
              </a:rPr>
              <a:t>•  Sequence — взаимодействие во времени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1A1F2B"/>
                </a:solidFill>
                <a:latin typeface="Calibri"/>
              </a:rPr>
              <a:t>•  Activity — поток управления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1A1F2B"/>
                </a:solidFill>
                <a:latin typeface="Calibri"/>
              </a:rPr>
              <a:t>•  State machine — конечный автомат</a:t>
            </a:r>
          </a:p>
          <a:p>
            <a:pPr>
              <a:spcAft>
                <a:spcPts val="300"/>
              </a:spcAft>
            </a:pPr>
            <a:r>
              <a:rPr sz="1400">
                <a:solidFill>
                  <a:srgbClr val="1A1F2B"/>
                </a:solidFill>
                <a:latin typeface="Calibri"/>
              </a:rPr>
              <a:t>•  Communication, Interaction overview, Timing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000" y="4565700"/>
            <a:ext cx="11544119" cy="1625400"/>
          </a:xfrm>
          <a:prstGeom prst="roundRect">
            <a:avLst>
              <a:gd name="adj" fmla="val 7000"/>
            </a:avLst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000" y="4673700"/>
            <a:ext cx="11184119" cy="140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77B4"/>
                </a:solidFill>
                <a:latin typeface="Calibri"/>
              </a:rPr>
              <a:t>Для прототипа TaskHub выбраны: </a:t>
            </a:r>
            <a:r>
              <a:rPr sz="1500">
                <a:solidFill>
                  <a:srgbClr val="FFFFFF"/>
                </a:solidFill>
                <a:latin typeface="Calibri"/>
              </a:rPr>
              <a:t>use case, class, ER, sequence (3 шт.), activity, state, component, deployment, package — 11 диаграмм, покрывающих структуру и поведение системы.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00" y="6534000"/>
            <a:ext cx="1161611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555C66"/>
                </a:solidFill>
                <a:latin typeface="Calibri"/>
              </a:rPr>
              <a:t>TaskHub · защита курсовой работы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119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C66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54000"/>
            <a:ext cx="11616119" cy="503999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Технологический стек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76000"/>
            <a:ext cx="12192119" cy="288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000" y="666000"/>
            <a:ext cx="1161611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Обоснованный выбор зрелых open-source инструментов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000" y="1044000"/>
            <a:ext cx="3728039" cy="487620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4000" y="1044000"/>
            <a:ext cx="3728039" cy="251999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000" y="1080000"/>
            <a:ext cx="351203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000" y="1440000"/>
            <a:ext cx="3440039" cy="4372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React 18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TypeScript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Vite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TanStack Query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Zustand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Tailwind CSS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32039" y="1044000"/>
            <a:ext cx="3728039" cy="487620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32039" y="1044000"/>
            <a:ext cx="3728039" cy="251999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0039" y="1080000"/>
            <a:ext cx="351203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6039" y="1440000"/>
            <a:ext cx="3440039" cy="4372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NestJS 10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TypeORM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class-validator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Passport JWT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Socket.IO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BullMQ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40079" y="1044000"/>
            <a:ext cx="3728039" cy="4876200"/>
          </a:xfrm>
          <a:prstGeom prst="roundRect">
            <a:avLst>
              <a:gd name="adj" fmla="val 5000"/>
            </a:avLst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40079" y="1044000"/>
            <a:ext cx="3728039" cy="251999"/>
          </a:xfrm>
          <a:prstGeom prst="rect">
            <a:avLst/>
          </a:prstGeom>
          <a:solidFill>
            <a:srgbClr val="555C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8079" y="1080000"/>
            <a:ext cx="3512039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Инфраструктура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079" y="1440000"/>
            <a:ext cx="3440039" cy="4372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PostgreSQL 16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Redis 7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MinIO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Docker Compose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Traefik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1A1F2B"/>
                </a:solidFill>
                <a:latin typeface="Calibri"/>
              </a:rPr>
              <a:t>•  Prometheus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00" y="6534000"/>
            <a:ext cx="1161611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555C66"/>
                </a:solidFill>
                <a:latin typeface="Calibri"/>
              </a:rPr>
              <a:t>TaskHub · защита курсовой работы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92119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C66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0000" y="2736000"/>
            <a:ext cx="1260000" cy="648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2160000"/>
            <a:ext cx="10752119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77B4"/>
                </a:solidFill>
                <a:latin typeface="Calibri"/>
              </a:rPr>
              <a:t>ГЛАВА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2951999"/>
            <a:ext cx="10752119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Практическая часть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4320000"/>
            <a:ext cx="10752119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F2F5F9"/>
                </a:solidFill>
                <a:latin typeface="Calibri"/>
              </a:rPr>
              <a:t>Разработка прототипа TaskHub: требования, архитектура, модель данных, поведение системы и развёртывание.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534000"/>
            <a:ext cx="1161611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F2F5F9"/>
                </a:solidFill>
                <a:latin typeface="Calibri"/>
              </a:rPr>
              <a:t>TaskHub · защита курсовой работы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119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F2F5F9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54000"/>
            <a:ext cx="11616119" cy="503999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2.1. Требования к прототипу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76000"/>
            <a:ext cx="12192119" cy="288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000" y="666000"/>
            <a:ext cx="1161611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Функциональные требования и акторы (UML Use Case)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000" y="1044000"/>
            <a:ext cx="4848529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2D52"/>
                </a:solidFill>
                <a:latin typeface="Calibri"/>
              </a:rPr>
              <a:t>Функциональные требования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F2B"/>
                </a:solidFill>
                <a:latin typeface="Calibri"/>
              </a:rPr>
              <a:t>•  регистрация и аутентификация (JWT);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F2B"/>
                </a:solidFill>
                <a:latin typeface="Calibri"/>
              </a:rPr>
              <a:t>•  управление арендаторами (tenants);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F2B"/>
                </a:solidFill>
                <a:latin typeface="Calibri"/>
              </a:rPr>
              <a:t>•  проекты, доски (Kanban / Scrum), спринты;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F2B"/>
                </a:solidFill>
                <a:latin typeface="Calibri"/>
              </a:rPr>
              <a:t>•  CRUD задач, комментарии, вложения;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F2B"/>
                </a:solidFill>
                <a:latin typeface="Calibri"/>
              </a:rPr>
              <a:t>•  drag-and-drop по колонкам и спринтам;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F2B"/>
                </a:solidFill>
                <a:latin typeface="Calibri"/>
              </a:rPr>
              <a:t>•  история изменений (audit log);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F2B"/>
                </a:solidFill>
                <a:latin typeface="Calibri"/>
              </a:rPr>
              <a:t>•  полнотекстовый поиск;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F2B"/>
                </a:solidFill>
                <a:latin typeface="Calibri"/>
              </a:rPr>
              <a:t>•  уведомления и e-mail-рассылка;</a:t>
            </a:r>
          </a:p>
          <a:p>
            <a:pPr>
              <a:spcBef>
                <a:spcPts val="200"/>
              </a:spcBef>
            </a:pPr>
            <a:r>
              <a:rPr sz="1300">
                <a:solidFill>
                  <a:srgbClr val="1A1F2B"/>
                </a:solidFill>
                <a:latin typeface="Calibri"/>
              </a:rPr>
              <a:t>•  REST API + WebSocket-обновления.</a:t>
            </a:r>
          </a:p>
        </p:txBody>
      </p:sp>
      <p:pic>
        <p:nvPicPr>
          <p:cNvPr id="8" name="Picture 7" descr="use-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8853" y="1044000"/>
            <a:ext cx="6349265" cy="541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88000" y="6534000"/>
            <a:ext cx="1161611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555C66"/>
                </a:solidFill>
                <a:latin typeface="Calibri"/>
              </a:rPr>
              <a:t>TaskHub · защита курсовой работы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119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C66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54000"/>
            <a:ext cx="11616119" cy="503999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Архитектура прототипа TaskHub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76000"/>
            <a:ext cx="12192119" cy="288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000" y="666000"/>
            <a:ext cx="1161611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Трёхуровневая SPA-архитектура с асинхронной шиной событий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000" y="1044000"/>
            <a:ext cx="5772059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Frontend: React 18 + Vite + TanStack Query + Zustand.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Backend: NestJS + TypeORM, 10 модулей (Auth, Tenants, Users, Projects, Issues, Search, Notifications, Health, Billing, Redis).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Хранилища: PostgreSQL 16 (RLS), Redis (кеш и pub/sub), MinIO (вложения).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Биллинг: YooKassa-интеграция + PlanGuard, ограничения по тарифам (projects/users/issues).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Реал-тайм: WebSocket (Socket.IO) + EventEmitter для развязки слоёв.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Развёртывание: Docker Compose, обратный прокси Traefik.</a:t>
            </a:r>
          </a:p>
        </p:txBody>
      </p:sp>
      <p:pic>
        <p:nvPicPr>
          <p:cNvPr id="8" name="Picture 7" descr="compon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3265" y="1044000"/>
            <a:ext cx="5194853" cy="541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88000" y="6534000"/>
            <a:ext cx="1161611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555C66"/>
                </a:solidFill>
                <a:latin typeface="Calibri"/>
              </a:rPr>
              <a:t>TaskHub · защита курсовой работы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119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C66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54000"/>
            <a:ext cx="11616119" cy="503999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2.3. Доменная модель (UML Class)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76000"/>
            <a:ext cx="12192119" cy="288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000" y="666000"/>
            <a:ext cx="1161611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11 сущностей и 5 перечислений TaskHub</a:t>
            </a:r>
          </a:p>
        </p:txBody>
      </p:sp>
      <p:pic>
        <p:nvPicPr>
          <p:cNvPr id="7" name="Picture 6" descr="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00" y="1044000"/>
            <a:ext cx="6926471" cy="541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66471" y="1116000"/>
            <a:ext cx="4401647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Tenant, User, Project, Sprint, Issue, Comment, Attachment …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Перечисления: UserRole, IssueStatus, IssuePriority, BoardType.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Композиция Tenant → Project → Issue фиксирует владение.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Соответствует TypeORM-сущностям backend-модулей.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6534000"/>
            <a:ext cx="1161611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555C66"/>
                </a:solidFill>
                <a:latin typeface="Calibri"/>
              </a:rPr>
              <a:t>TaskHub · защита курсовой работы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119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C66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54000"/>
            <a:ext cx="11616119" cy="503999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Модель данных и многоарендность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76000"/>
            <a:ext cx="12192119" cy="288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000" y="666000"/>
            <a:ext cx="1161611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ER-схема и изоляция через Row-Level Security</a:t>
            </a:r>
          </a:p>
        </p:txBody>
      </p:sp>
      <p:pic>
        <p:nvPicPr>
          <p:cNvPr id="7" name="Picture 6" descr="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00" y="1044000"/>
            <a:ext cx="7157353" cy="541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27677" y="1116000"/>
            <a:ext cx="4040441" cy="527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12 таблиц, все доменные сущности привязаны к tenants(id).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tenant_id обязателен и индексирован — без него любой запрос отклоняется RLS-политикой.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UUID-первичные ключи, FK с ON DELETE CASCADE для целостности.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Полнотекстовый поиск по issues через tsvector + GIN-индекс.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F2B"/>
                </a:solidFill>
                <a:latin typeface="Calibri"/>
              </a:rPr>
              <a:t>•  Fractional indexing (column_position) для drag-and-drop без массовых апдейтов.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6534000"/>
            <a:ext cx="1161611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555C66"/>
                </a:solidFill>
                <a:latin typeface="Calibri"/>
              </a:rPr>
              <a:t>TaskHub · защита курсовой работы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119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C66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54000"/>
            <a:ext cx="11616119" cy="503999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2.4. Поведение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76000"/>
            <a:ext cx="12192119" cy="288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8000" y="666000"/>
            <a:ext cx="1161611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C66"/>
                </a:solidFill>
                <a:latin typeface="Calibri"/>
              </a:rPr>
              <a:t>Sequence — создание задачи · State — жизненный цикл</a:t>
            </a:r>
          </a:p>
        </p:txBody>
      </p:sp>
      <p:pic>
        <p:nvPicPr>
          <p:cNvPr id="7" name="Picture 6" descr="sequence-create-iss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00" y="1044000"/>
            <a:ext cx="5682059" cy="4605300"/>
          </a:xfrm>
          <a:prstGeom prst="rect">
            <a:avLst/>
          </a:prstGeom>
        </p:spPr>
      </p:pic>
      <p:pic>
        <p:nvPicPr>
          <p:cNvPr id="8" name="Picture 7" descr="state-iss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6059" y="1044000"/>
            <a:ext cx="5682059" cy="46053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4000" y="5703480"/>
            <a:ext cx="568205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C66"/>
                </a:solidFill>
                <a:latin typeface="Calibri"/>
              </a:rPr>
              <a:t>Sequence: HTTP-путь + асинхронные события (EventEmitter, WebSocket).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86059" y="5703480"/>
            <a:ext cx="568205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55C66"/>
                </a:solidFill>
                <a:latin typeface="Calibri"/>
              </a:rPr>
              <a:t>State: 6 состояний IssueStatus, переходы фиксируются в issue_changelog.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" y="6534000"/>
            <a:ext cx="1161611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555C66"/>
                </a:solidFill>
                <a:latin typeface="Calibri"/>
              </a:rPr>
              <a:t>TaskHub · защита курсовой работы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119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C66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F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54000"/>
            <a:ext cx="11616119" cy="503999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Заключение и перспективы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76000"/>
            <a:ext cx="12192119" cy="288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4000" y="1044000"/>
            <a:ext cx="5772059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2D52"/>
                </a:solidFill>
                <a:latin typeface="Calibri"/>
              </a:rPr>
              <a:t>Достигнуто: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F2B"/>
                </a:solidFill>
                <a:latin typeface="Calibri"/>
              </a:rPr>
              <a:t>✓  цель и задачи курсовой работы выполнены в полном объёме;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F2B"/>
                </a:solidFill>
                <a:latin typeface="Calibri"/>
              </a:rPr>
              <a:t>✓  построен прототип, демонстрирующий ключевые сценарии Jira-подобной системы;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F2B"/>
                </a:solidFill>
                <a:latin typeface="Calibri"/>
              </a:rPr>
              <a:t>✓  комплект UML-диаграмм покрывает структуру и поведение системы;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F2B"/>
                </a:solidFill>
                <a:latin typeface="Calibri"/>
              </a:rPr>
              <a:t>✓  изоляция арендаторов реализована на уровне БД через RLS.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3265" y="1044000"/>
            <a:ext cx="5194853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77B4"/>
                </a:solidFill>
                <a:latin typeface="Calibri"/>
              </a:rPr>
              <a:t>Перспективы развития: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F2B"/>
                </a:solidFill>
                <a:latin typeface="Calibri"/>
              </a:rPr>
              <a:t>→  интеграции с Git-провайдерами (GitHub, GitLab) и CI;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F2B"/>
                </a:solidFill>
                <a:latin typeface="Calibri"/>
              </a:rPr>
              <a:t>→  автоматизации рабочих процессов (правила, триггеры);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F2B"/>
                </a:solidFill>
                <a:latin typeface="Calibri"/>
              </a:rPr>
              <a:t>→  отчёты, диаграммы выгорания, прогноз сроков;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F2B"/>
                </a:solidFill>
                <a:latin typeface="Calibri"/>
              </a:rPr>
              <a:t>→  мобильный клиент и offline-режим;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1A1F2B"/>
                </a:solidFill>
                <a:latin typeface="Calibri"/>
              </a:rPr>
              <a:t>→  масштабирование на Kubernetes и horizontal sharding по tenant_id.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6534000"/>
            <a:ext cx="1161611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555C66"/>
                </a:solidFill>
                <a:latin typeface="Calibri"/>
              </a:rPr>
              <a:t>TaskHub · защита курсовой работы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119" y="6534000"/>
            <a:ext cx="720000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55C66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