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2700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00000"/>
            <a:ext cx="12192119" cy="900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288000"/>
            <a:ext cx="11112119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МИНОБРНАУКИ РОССИИ · Высшее учебное заведение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720000"/>
            <a:ext cx="1111211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77B4"/>
                </a:solidFill>
                <a:latin typeface="Calibri"/>
              </a:rPr>
              <a:t>Защита курсовой работы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152000"/>
            <a:ext cx="11112119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Разработка прототипа системы
управления задачами (наподобие Jira)
с полным комплектом UML-диаграмм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3420000"/>
            <a:ext cx="10752119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2D52"/>
                </a:solidFill>
                <a:latin typeface="Calibri"/>
              </a:rPr>
              <a:t>Тема:  </a:t>
            </a:r>
            <a:r>
              <a:rPr sz="1600">
                <a:solidFill>
                  <a:srgbClr val="1A1F2B"/>
                </a:solidFill>
                <a:latin typeface="Calibri"/>
              </a:rPr>
              <a:t>Прототип TaskHub — самостоятельно развёртываемая SaaS-система управления задачами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F2D52"/>
                </a:solidFill>
                <a:latin typeface="Calibri"/>
              </a:rPr>
              <a:t>Студент:  </a:t>
            </a:r>
            <a:r>
              <a:rPr sz="1600">
                <a:solidFill>
                  <a:srgbClr val="1A1F2B"/>
                </a:solidFill>
                <a:latin typeface="Calibri"/>
              </a:rPr>
              <a:t>____________________________________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F2D52"/>
                </a:solidFill>
                <a:latin typeface="Calibri"/>
              </a:rPr>
              <a:t>Группа:  </a:t>
            </a:r>
            <a:r>
              <a:rPr sz="1600">
                <a:solidFill>
                  <a:srgbClr val="1A1F2B"/>
                </a:solidFill>
                <a:latin typeface="Calibri"/>
              </a:rPr>
              <a:t>____________________________________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F2D52"/>
                </a:solidFill>
                <a:latin typeface="Calibri"/>
              </a:rPr>
              <a:t>Научный руководитель:  </a:t>
            </a:r>
            <a:r>
              <a:rPr sz="1600">
                <a:solidFill>
                  <a:srgbClr val="1A1F2B"/>
                </a:solidFill>
                <a:latin typeface="Calibri"/>
              </a:rPr>
              <a:t>____________________________________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F2D52"/>
                </a:solidFill>
                <a:latin typeface="Calibri"/>
              </a:rPr>
              <a:t>Год:  </a:t>
            </a:r>
            <a:r>
              <a:rPr sz="1600">
                <a:solidFill>
                  <a:srgbClr val="1A1F2B"/>
                </a:solidFill>
                <a:latin typeface="Calibri"/>
              </a:rPr>
              <a:t>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Актуальность 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4000" y="1044000"/>
            <a:ext cx="6349265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1A1F2B"/>
                </a:solidFill>
                <a:latin typeface="Calibri"/>
              </a:rPr>
              <a:t>•  Распределённые команды требуют единой среды для планирования и контроля задач.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B"/>
                </a:solidFill>
                <a:latin typeface="Calibri"/>
              </a:rPr>
              <a:t>•  Облачные сервисы (Jira, Asana, Linear) — vendor lock-in, рост стоимости лицензий, требования к локализации данных.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B"/>
                </a:solidFill>
                <a:latin typeface="Calibri"/>
              </a:rPr>
              <a:t>•  Тренд на self-hosted решения с поддержкой multi-tenant изоляции.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B"/>
                </a:solidFill>
                <a:latin typeface="Calibri"/>
              </a:rPr>
              <a:t>•  Современный стек (NestJS, React, PostgreSQL) делает разработку прототипа реалистичной задачей курсовой работы.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50471" y="1044000"/>
            <a:ext cx="4617647" cy="460530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66471" y="1188000"/>
            <a:ext cx="4185647" cy="50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77B4"/>
                </a:solidFill>
                <a:latin typeface="Calibri"/>
              </a:rPr>
              <a:t>85%+</a:t>
            </a:r>
          </a:p>
          <a:p>
            <a:r>
              <a:rPr sz="1300">
                <a:solidFill>
                  <a:srgbClr val="555C66"/>
                </a:solidFill>
                <a:latin typeface="Calibri"/>
              </a:rPr>
              <a:t>команд используют ≥1 системы трекинга</a:t>
            </a:r>
          </a:p>
          <a:p>
            <a:pPr algn="l">
              <a:spcBef>
                <a:spcPts val="1000"/>
              </a:spcBef>
            </a:pPr>
            <a:r>
              <a:rPr sz="2800" b="1">
                <a:solidFill>
                  <a:srgbClr val="1F77B4"/>
                </a:solidFill>
                <a:latin typeface="Calibri"/>
              </a:rPr>
              <a:t>11</a:t>
            </a:r>
          </a:p>
          <a:p>
            <a:r>
              <a:rPr sz="1300">
                <a:solidFill>
                  <a:srgbClr val="555C66"/>
                </a:solidFill>
                <a:latin typeface="Calibri"/>
              </a:rPr>
              <a:t>типов UML-диаграмм в стандарте 2.5</a:t>
            </a:r>
          </a:p>
          <a:p>
            <a:pPr algn="l">
              <a:spcBef>
                <a:spcPts val="1000"/>
              </a:spcBef>
            </a:pPr>
            <a:r>
              <a:rPr sz="2800" b="1">
                <a:solidFill>
                  <a:srgbClr val="1F77B4"/>
                </a:solidFill>
                <a:latin typeface="Calibri"/>
              </a:rPr>
              <a:t>multi-tenant</a:t>
            </a:r>
          </a:p>
          <a:p>
            <a:r>
              <a:rPr sz="1300">
                <a:solidFill>
                  <a:srgbClr val="555C66"/>
                </a:solidFill>
                <a:latin typeface="Calibri"/>
              </a:rPr>
              <a:t>ключевое требование к B2B-SaaS</a:t>
            </a:r>
          </a:p>
          <a:p>
            <a:pPr algn="l">
              <a:spcBef>
                <a:spcPts val="1000"/>
              </a:spcBef>
            </a:pPr>
            <a:r>
              <a:rPr sz="2800" b="1">
                <a:solidFill>
                  <a:srgbClr val="1F77B4"/>
                </a:solidFill>
                <a:latin typeface="Calibri"/>
              </a:rPr>
              <a:t>RLS</a:t>
            </a:r>
          </a:p>
          <a:p>
            <a:r>
              <a:rPr sz="1300">
                <a:solidFill>
                  <a:srgbClr val="555C66"/>
                </a:solidFill>
                <a:latin typeface="Calibri"/>
              </a:rPr>
              <a:t>механизм изоляции в PostgreSQL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4000" y="1044000"/>
            <a:ext cx="11544119" cy="936000"/>
          </a:xfrm>
          <a:prstGeom prst="roundRect">
            <a:avLst>
              <a:gd name="adj" fmla="val 8000"/>
            </a:avLst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4000" y="1152000"/>
            <a:ext cx="111841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77B4"/>
                </a:solidFill>
                <a:latin typeface="Calibri"/>
              </a:rPr>
              <a:t>Цель: </a:t>
            </a:r>
            <a:r>
              <a:rPr sz="2000">
                <a:solidFill>
                  <a:srgbClr val="FFFFFF"/>
                </a:solidFill>
                <a:latin typeface="Calibri"/>
              </a:rPr>
              <a:t>разработать прототип многопользовательской системы управления задачами и подготовить полный комплект UML-диаграмм, описывающих её архитектуру и поведение.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000" y="2124000"/>
            <a:ext cx="11544119" cy="43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D52"/>
                </a:solidFill>
                <a:latin typeface="Calibri"/>
              </a:rPr>
              <a:t>Задачи: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1. Проанализировать предметную область и существующие решения (Jira, Asana, Linear, Trello).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2. Спроектировать архитектуру: модули, БД, протоколы взаимодействия, изоляцию арендаторов.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3. Реализовать прототип на стеке NestJS + React + PostgreSQL + Redis + MinIO.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4. Построить 11 UML-диаграмм (use case, class, ER, sequence, activity, state, component, deployment, package).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5. Оформить пояснительную записку по требованиям ГОСТ.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Объект, предмет и методы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4000" y="1044000"/>
            <a:ext cx="3728039" cy="487620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4000" y="1044000"/>
            <a:ext cx="3728039" cy="1080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000" y="1260000"/>
            <a:ext cx="3440039" cy="458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F2D52"/>
                </a:solidFill>
                <a:latin typeface="Calibri"/>
              </a:rPr>
              <a:t>Объект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1A1F2B"/>
                </a:solidFill>
                <a:latin typeface="Calibri"/>
              </a:rPr>
              <a:t>Процессы планирования и контроля задач в распределённых проектных командах.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2039" y="1044000"/>
            <a:ext cx="3728039" cy="487620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2039" y="1044000"/>
            <a:ext cx="3728039" cy="108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6039" y="1260000"/>
            <a:ext cx="3440039" cy="458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F2D52"/>
                </a:solidFill>
                <a:latin typeface="Calibri"/>
              </a:rPr>
              <a:t>Предмет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1A1F2B"/>
                </a:solidFill>
                <a:latin typeface="Calibri"/>
              </a:rPr>
              <a:t>Архитектура, модель данных и UML-документация прототипа task-management системы.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0079" y="1044000"/>
            <a:ext cx="3728039" cy="487620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40079" y="1044000"/>
            <a:ext cx="3728039" cy="108000"/>
          </a:xfrm>
          <a:prstGeom prst="rect">
            <a:avLst/>
          </a:prstGeom>
          <a:solidFill>
            <a:srgbClr val="555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079" y="1260000"/>
            <a:ext cx="3440039" cy="458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F2D52"/>
                </a:solidFill>
                <a:latin typeface="Calibri"/>
              </a:rPr>
              <a:t>Методы</a:t>
            </a:r>
          </a:p>
          <a:p>
            <a:pPr>
              <a:spcBef>
                <a:spcPts val="1200"/>
              </a:spcBef>
            </a:pPr>
            <a:r>
              <a:rPr sz="1600">
                <a:solidFill>
                  <a:srgbClr val="1A1F2B"/>
                </a:solidFill>
                <a:latin typeface="Calibri"/>
              </a:rPr>
              <a:t>Системный анализ, объектно-ориентированное проектирование (UML 2.5), реляционное моделирование, программная инженерия.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Сравнение существующих решений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00" y="666000"/>
            <a:ext cx="1161611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Анализ аналогов задал требования к прототипу TaskHub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4000" y="1188000"/>
          <a:ext cx="11544117" cy="4605300.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2353"/>
                <a:gridCol w="2077941"/>
                <a:gridCol w="2077941"/>
                <a:gridCol w="2077941"/>
                <a:gridCol w="2077941"/>
              </a:tblGrid>
              <a:tr h="657900">
                <a:tc>
                  <a:txBody>
                    <a:bodyPr lIns="72000" rIns="7200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Система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Multi-tenant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Открытый код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Гибкость WF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657900">
                <a:tc>
                  <a:txBody>
                    <a:bodyPr lIns="72000" rIns="72000"/>
                    <a:lstStyle/>
                    <a:p>
                      <a:pPr algn="l"/>
                      <a:r>
                        <a:rPr sz="1400" b="1">
                          <a:solidFill>
                            <a:srgbClr val="1A1F2B"/>
                          </a:solidFill>
                          <a:latin typeface="Calibri"/>
                        </a:rPr>
                        <a:t>Atlassian Jira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DC (платно)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Высокая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7900">
                <a:tc>
                  <a:txBody>
                    <a:bodyPr lIns="72000" rIns="72000"/>
                    <a:lstStyle/>
                    <a:p>
                      <a:pPr algn="l"/>
                      <a:r>
                        <a:rPr sz="1400" b="1">
                          <a:solidFill>
                            <a:srgbClr val="1A1F2B"/>
                          </a:solidFill>
                          <a:latin typeface="Calibri"/>
                        </a:rPr>
                        <a:t>GitHub Projects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SaaS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Средняя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657900">
                <a:tc>
                  <a:txBody>
                    <a:bodyPr lIns="72000" rIns="72000"/>
                    <a:lstStyle/>
                    <a:p>
                      <a:pPr algn="l"/>
                      <a:r>
                        <a:rPr sz="1400" b="1">
                          <a:solidFill>
                            <a:srgbClr val="1A1F2B"/>
                          </a:solidFill>
                          <a:latin typeface="Calibri"/>
                        </a:rPr>
                        <a:t>Asana / Trello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SaaS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Низкая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7900">
                <a:tc>
                  <a:txBody>
                    <a:bodyPr lIns="72000" rIns="72000"/>
                    <a:lstStyle/>
                    <a:p>
                      <a:pPr algn="l"/>
                      <a:r>
                        <a:rPr sz="1400" b="1">
                          <a:solidFill>
                            <a:srgbClr val="1A1F2B"/>
                          </a:solidFill>
                          <a:latin typeface="Calibri"/>
                        </a:rPr>
                        <a:t>YouTrack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Огранич.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Высокая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657900">
                <a:tc>
                  <a:txBody>
                    <a:bodyPr lIns="72000" rIns="72000"/>
                    <a:lstStyle/>
                    <a:p>
                      <a:pPr algn="l"/>
                      <a:r>
                        <a:rPr sz="1400" b="1">
                          <a:solidFill>
                            <a:srgbClr val="1A1F2B"/>
                          </a:solidFill>
                          <a:latin typeface="Calibri"/>
                        </a:rPr>
                        <a:t>OpenProject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Средняя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7900">
                <a:tc>
                  <a:txBody>
                    <a:bodyPr lIns="72000" rIns="72000"/>
                    <a:lstStyle/>
                    <a:p>
                      <a:pPr algn="l"/>
                      <a:r>
                        <a:rPr sz="1400" b="1">
                          <a:solidFill>
                            <a:srgbClr val="0F2D52"/>
                          </a:solidFill>
                          <a:latin typeface="Calibri"/>
                        </a:rPr>
                        <a:t>TaskHub (proto)</a:t>
                      </a:r>
                    </a:p>
                  </a:txBody>
                  <a:tcPr>
                    <a:solidFill>
                      <a:srgbClr val="E8F1FA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1">
                          <a:solidFill>
                            <a:srgbClr val="0F2D52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E8F1FA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1">
                          <a:solidFill>
                            <a:srgbClr val="0F2D52"/>
                          </a:solidFill>
                          <a:latin typeface="Calibri"/>
                        </a:rPr>
                        <a:t>Да (RLS)</a:t>
                      </a:r>
                    </a:p>
                  </a:txBody>
                  <a:tcPr>
                    <a:solidFill>
                      <a:srgbClr val="E8F1FA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1">
                          <a:solidFill>
                            <a:srgbClr val="0F2D52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E8F1FA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1">
                          <a:solidFill>
                            <a:srgbClr val="0F2D52"/>
                          </a:solidFill>
                          <a:latin typeface="Calibri"/>
                        </a:rPr>
                        <a:t>Высокая</a:t>
                      </a:r>
                    </a:p>
                  </a:txBody>
                  <a:tcPr>
                    <a:solidFill>
                      <a:srgbClr val="E8F1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Архитектура прототипа TaskHub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00" y="666000"/>
            <a:ext cx="1161611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Трёхуровневая SPA-архитектура с асинхронной шиной событий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000" y="1044000"/>
            <a:ext cx="5772059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1A1F2B"/>
                </a:solidFill>
                <a:latin typeface="Calibri"/>
              </a:rPr>
              <a:t>•  Frontend: React 18 + Vite + TanStack Query + Zustand.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B"/>
                </a:solidFill>
                <a:latin typeface="Calibri"/>
              </a:rPr>
              <a:t>•  Backend: NestJS + TypeORM, 9 модулей (Auth, Tenants, Users, Projects, Issues, Search, Notifications, Mail, Health).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B"/>
                </a:solidFill>
                <a:latin typeface="Calibri"/>
              </a:rPr>
              <a:t>•  Хранилища: PostgreSQL 16 (RLS), Redis (кеш и pub/sub), MinIO (вложения).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B"/>
                </a:solidFill>
                <a:latin typeface="Calibri"/>
              </a:rPr>
              <a:t>•  Реал-тайм: WebSocket (Socket.IO) + EventEmitter для развязки слоёв.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1A1F2B"/>
                </a:solidFill>
                <a:latin typeface="Calibri"/>
              </a:rPr>
              <a:t>•  Развёртывание: Docker Compose, обратный прокси Traefik.</a:t>
            </a:r>
          </a:p>
        </p:txBody>
      </p:sp>
      <p:pic>
        <p:nvPicPr>
          <p:cNvPr id="8" name="Picture 7" descr="compon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265" y="1044000"/>
            <a:ext cx="5194853" cy="541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UML: Use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00" y="666000"/>
            <a:ext cx="1161611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Акторы и сценарии использования системы</a:t>
            </a:r>
          </a:p>
        </p:txBody>
      </p:sp>
      <p:pic>
        <p:nvPicPr>
          <p:cNvPr id="7" name="Picture 6" descr="use-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1044000"/>
            <a:ext cx="6926471" cy="541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6471" y="1116000"/>
            <a:ext cx="4401647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4 актора: Administrator, Project Manager, Developer, Viewer.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14 сценариев — от регистрации до управления задачами и поиска.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Связи include / extend моделируют обязательные и опциональные расширения сценариев.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Диаграмма зафиксировала функциональные требования к прототипу.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UML: Class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00" y="666000"/>
            <a:ext cx="1161611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Доменная модель TaskHub</a:t>
            </a:r>
          </a:p>
        </p:txBody>
      </p:sp>
      <p:pic>
        <p:nvPicPr>
          <p:cNvPr id="7" name="Picture 6" descr="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1044000"/>
            <a:ext cx="6926471" cy="541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6471" y="1116000"/>
            <a:ext cx="4401647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11 ключевых сущностей: Tenant, User, Project, Sprint, Issue, …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5 перечислений: UserRole, IssueStatus, IssuePriority, SprintStatus, BoardType.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Композиция Tenant → Project → Issue моделирует владение данными.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Класс служит шаблоном TypeORM-сущностей в коде backend.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Модель данных и многоарендность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00" y="666000"/>
            <a:ext cx="1161611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ER-схема и изоляция через Row-Level Security</a:t>
            </a:r>
          </a:p>
        </p:txBody>
      </p:sp>
      <p:pic>
        <p:nvPicPr>
          <p:cNvPr id="7" name="Picture 6" descr="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1044000"/>
            <a:ext cx="7157353" cy="541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27677" y="1116000"/>
            <a:ext cx="4040441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12 таблиц, все доменные сущности привязаны к tenants(id).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tenant_id обязателен и индексирован — без него любой запрос отклоняется RLS-политикой.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UUID-первичные ключи, FK с ON DELETE CASCADE для целостности.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Полнотекстовый поиск по issues через tsvector + GIN-индекс.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Fractional indexing (column_position) для drag-and-drop без массовых апдейтов.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UML: Sequence — создание задачи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00" y="666000"/>
            <a:ext cx="1161611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Синхронный путь HTTP + асинхронные события</a:t>
            </a:r>
          </a:p>
        </p:txBody>
      </p:sp>
      <p:pic>
        <p:nvPicPr>
          <p:cNvPr id="7" name="Picture 6" descr="sequence-create-iss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1044000"/>
            <a:ext cx="6926471" cy="541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6471" y="1116000"/>
            <a:ext cx="4401647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Web-клиент → Controller → Service → Repository → PostgreSQL.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Транзакция вставки задачи и записи в issue_changelog.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EventEmitter публикует issue.created для подписчиков.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WebSocket-шлюз и Notifications обрабатывают событие асинхронно.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UML: State — жизненный цикл задачи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00" y="666000"/>
            <a:ext cx="1161611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Конечный автомат IssueStatus</a:t>
            </a:r>
          </a:p>
        </p:txBody>
      </p:sp>
      <p:pic>
        <p:nvPicPr>
          <p:cNvPr id="7" name="Picture 6" descr="state-iss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1044000"/>
            <a:ext cx="6926471" cy="541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6471" y="1116000"/>
            <a:ext cx="4401647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6 состояний: BACKLOG → TODO → IN_PROGRESS → IN_REVIEW → DONE / CANCELLED.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Каждый переход — действие в API (start, submitForReview, approve, reject, …).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Защита от недопустимых переходов на уровне сервисного слоя.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Все переходы попадают в issue_changelog для аудита.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UML: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00" y="666000"/>
            <a:ext cx="1161611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Топология контейнеров Docker Compose</a:t>
            </a:r>
          </a:p>
        </p:txBody>
      </p:sp>
      <p:pic>
        <p:nvPicPr>
          <p:cNvPr id="7" name="Picture 6" descr="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1044000"/>
            <a:ext cx="6926471" cy="541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6471" y="1116000"/>
            <a:ext cx="4401647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7 контейнеров: traefik, web, api, postgres, redis, minio, adminer.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Traefik принимает HTTPS, маршрутизирует / в SPA, /api в NestJS.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Состояние БД и MinIO смонтировано через volumes.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Конфигурация описана в инфраструктурных файлах репозитория.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Технологический стек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00" y="666000"/>
            <a:ext cx="1161611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Обоснованный выбор зрелых open-source инструментов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000" y="1044000"/>
            <a:ext cx="3728039" cy="487620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4000" y="1044000"/>
            <a:ext cx="3728039" cy="251999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000" y="1080000"/>
            <a:ext cx="351203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1440000"/>
            <a:ext cx="3440039" cy="4372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React 18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TypeScript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Vite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TanStack Query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Zustand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Tailwind CSS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2039" y="1044000"/>
            <a:ext cx="3728039" cy="487620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32039" y="1044000"/>
            <a:ext cx="3728039" cy="251999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0039" y="1080000"/>
            <a:ext cx="351203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6039" y="1440000"/>
            <a:ext cx="3440039" cy="4372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NestJS 10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TypeORM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class-validator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Passport JWT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Socket.IO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BullMQ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40079" y="1044000"/>
            <a:ext cx="3728039" cy="487620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0079" y="1044000"/>
            <a:ext cx="3728039" cy="251999"/>
          </a:xfrm>
          <a:prstGeom prst="rect">
            <a:avLst/>
          </a:prstGeom>
          <a:solidFill>
            <a:srgbClr val="555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8079" y="1080000"/>
            <a:ext cx="351203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Инфраструктура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079" y="1440000"/>
            <a:ext cx="3440039" cy="4372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PostgreSQL 16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Redis 7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MinIO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Docker Compose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Traefik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Prometheus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Результаты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4000" y="1044000"/>
            <a:ext cx="2706029" cy="1620000"/>
          </a:xfrm>
          <a:prstGeom prst="roundRect">
            <a:avLst>
              <a:gd name="adj" fmla="val 7000"/>
            </a:avLst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4000" y="1224000"/>
            <a:ext cx="2706029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2124000"/>
            <a:ext cx="2490029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UML-диаграмм в полном комплекте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10029" y="1044000"/>
            <a:ext cx="2706029" cy="1620000"/>
          </a:xfrm>
          <a:prstGeom prst="roundRect">
            <a:avLst>
              <a:gd name="adj" fmla="val 7000"/>
            </a:avLst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10029" y="1224000"/>
            <a:ext cx="2706029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8029" y="2124000"/>
            <a:ext cx="2490029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NestJS-модулей backend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6059" y="1044000"/>
            <a:ext cx="2706029" cy="1620000"/>
          </a:xfrm>
          <a:prstGeom prst="roundRect">
            <a:avLst>
              <a:gd name="adj" fmla="val 7000"/>
            </a:avLst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59" y="1224000"/>
            <a:ext cx="2706029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4059" y="2124000"/>
            <a:ext cx="2490029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таблиц БД с RLS-изоляцией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82089" y="1044000"/>
            <a:ext cx="2706029" cy="1620000"/>
          </a:xfrm>
          <a:prstGeom prst="roundRect">
            <a:avLst>
              <a:gd name="adj" fmla="val 7000"/>
            </a:avLst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2089" y="1224000"/>
            <a:ext cx="2706029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0089" y="2124000"/>
            <a:ext cx="2490029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роли пользователей в системе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000" y="2916000"/>
            <a:ext cx="11544119" cy="34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Реализован прототип системы: аутентификация, проекты, доски, задачи, комментарии, вложения, поиск.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Подготовлена пояснительная записка (≈30 страниц) по требованиям ГОСТ 7.32.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Архитектура верифицирована UML-моделями уровня use case, classes, ER, dynamic behavior, deployment.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Стек контейнеризован: проект разворачивается единой командой docker compose up.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Заключение и перспективы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4000" y="1044000"/>
            <a:ext cx="5772059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2D52"/>
                </a:solidFill>
                <a:latin typeface="Calibri"/>
              </a:rPr>
              <a:t>Достигнуто: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F2B"/>
                </a:solidFill>
                <a:latin typeface="Calibri"/>
              </a:rPr>
              <a:t>✓  цель и задачи курсовой работы выполнены в полном объёме;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F2B"/>
                </a:solidFill>
                <a:latin typeface="Calibri"/>
              </a:rPr>
              <a:t>✓  построен прототип, демонстрирующий ключевые сценарии Jira-подобной системы;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F2B"/>
                </a:solidFill>
                <a:latin typeface="Calibri"/>
              </a:rPr>
              <a:t>✓  комплект UML-диаграмм покрывает структуру и поведение системы;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F2B"/>
                </a:solidFill>
                <a:latin typeface="Calibri"/>
              </a:rPr>
              <a:t>✓  изоляция арендаторов реализована на уровне БД через RLS.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3265" y="1044000"/>
            <a:ext cx="5194853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77B4"/>
                </a:solidFill>
                <a:latin typeface="Calibri"/>
              </a:rPr>
              <a:t>Перспективы развития: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F2B"/>
                </a:solidFill>
                <a:latin typeface="Calibri"/>
              </a:rPr>
              <a:t>→  интеграции с Git-провайдерами (GitHub, GitLab) и CI;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F2B"/>
                </a:solidFill>
                <a:latin typeface="Calibri"/>
              </a:rPr>
              <a:t>→  автоматизации рабочих процессов (правила, триггеры);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F2B"/>
                </a:solidFill>
                <a:latin typeface="Calibri"/>
              </a:rPr>
              <a:t>→  отчёты, диаграммы выгорания, прогноз сроков;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F2B"/>
                </a:solidFill>
                <a:latin typeface="Calibri"/>
              </a:rPr>
              <a:t>→  мобильный клиент и offline-режим;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F2B"/>
                </a:solidFill>
                <a:latin typeface="Calibri"/>
              </a:rPr>
              <a:t>→  масштабирование на Kubernetes и horizontal sharding по tenant_id.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